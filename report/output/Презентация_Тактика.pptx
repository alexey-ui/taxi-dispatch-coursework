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Представить тему. До сдачи заполнить данные автора и руководителя.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Около 25 секунд: акцент на настройке и эксплуатации, бизнес-функции ограничены.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Около 30 секунд. Не утверждать знание закрытого стека коммерческих аналогов.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Около 30 секунд. Объяснить осмысленную роль каждого компонента.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Около 35 секунд. Внешний вход только web; общий SQL и ограниченные Redis-сигналы.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Около 35 секунд. Блокировки и уникальный индекс запрещают двойное назначение; отказ возвращает поиск.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Около 50 секунд. Показать карту, сценарии и события. При живом показе проследить один заказ.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Около 35 секунд. Успешный run 40655602805; облачная ВМ пока не развёрнута.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Около 25 секунд. Ссылка на исходники: github.com/Alexey-UI/taxi-dispatch-coursework.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213321"/>
                </a:solidFill>
              </a:defRPr>
            </a:pPr>
            <a:r>
              <a:t>Настройка и администрирование системы такси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300">
                <a:solidFill>
                  <a:srgbClr val="33442D"/>
                </a:solidFill>
              </a:defRPr>
            </a:pPr>
            <a:r>
              <a:t>Система автоматической обработки и распределения заказов «Тактика»</a:t>
            </a:r>
          </a:p>
          <a:p>
            <a:pPr>
              <a:spcAft>
                <a:spcPts val="2200"/>
              </a:spcAft>
              <a:defRPr sz="2300">
                <a:solidFill>
                  <a:srgbClr val="33442D"/>
                </a:solidFill>
              </a:defRPr>
            </a:pPr>
            <a:r>
              <a:t>Дисциплина: Настройка и администрирование сервисного ПО</a:t>
            </a:r>
          </a:p>
          <a:p>
            <a:pPr>
              <a:spcAft>
                <a:spcPts val="2200"/>
              </a:spcAft>
              <a:defRPr sz="2300">
                <a:solidFill>
                  <a:srgbClr val="33442D"/>
                </a:solidFill>
              </a:defRPr>
            </a:pPr>
            <a:r>
              <a:t>Студент: __________________   Группа: __________</a:t>
            </a:r>
          </a:p>
          <a:p>
            <a:pPr>
              <a:spcAft>
                <a:spcPts val="2200"/>
              </a:spcAft>
              <a:defRPr sz="2300">
                <a:solidFill>
                  <a:srgbClr val="33442D"/>
                </a:solidFill>
              </a:defRPr>
            </a:pPr>
            <a:r>
              <a:t>Руководитель: __________________</a:t>
            </a:r>
          </a:p>
          <a:p>
            <a:pPr>
              <a:spcAft>
                <a:spcPts val="2200"/>
              </a:spcAft>
              <a:defRPr sz="2300">
                <a:solidFill>
                  <a:srgbClr val="33442D"/>
                </a:solidFill>
              </a:defRPr>
            </a:pPr>
            <a:r>
              <a:t>МИНОБРНАУКИ РОССИИ · РТУ МИРЭА · ИТ · ИиППО · Москва,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РТУ МИРЭА · Тактика · 2026                                                              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213321"/>
                </a:solidFill>
              </a:defRPr>
            </a:pPr>
            <a:r>
              <a:t>Цель и задачи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300">
                <a:solidFill>
                  <a:srgbClr val="33442D"/>
                </a:solidFill>
              </a:defRPr>
            </a:pPr>
            <a:r>
              <a:t>Разработать и настроить воспроизводимый стенд распределения заказов.</a:t>
            </a:r>
          </a:p>
          <a:p>
            <a:pPr>
              <a:spcAft>
                <a:spcPts val="2200"/>
              </a:spcAft>
              <a:defRPr sz="2300">
                <a:solidFill>
                  <a:srgbClr val="33442D"/>
                </a:solidFill>
              </a:defRPr>
            </a:pPr>
            <a:r>
              <a:t>Выбор ближайшего водителя, отказы, тайм-ауты и целостность состояния.</a:t>
            </a:r>
          </a:p>
          <a:p>
            <a:pPr>
              <a:spcAft>
                <a:spcPts val="2200"/>
              </a:spcAft>
              <a:defRPr sz="2300">
                <a:solidFill>
                  <a:srgbClr val="33442D"/>
                </a:solidFill>
              </a:defRPr>
            </a:pPr>
            <a:r>
              <a:t>Контейнеризация, кластер, сеть и автоматизированная доставка.</a:t>
            </a:r>
          </a:p>
          <a:p>
            <a:pPr>
              <a:spcAft>
                <a:spcPts val="2200"/>
              </a:spcAft>
              <a:defRPr sz="2300">
                <a:solidFill>
                  <a:srgbClr val="33442D"/>
                </a:solidFill>
              </a:defRPr>
            </a:pPr>
            <a:r>
              <a:t>Проверка штатных сценариев, восстановления и работающие инструкции.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РТУ МИРЭА · Тактика · 2026                                                             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213321"/>
                </a:solidFill>
              </a:defRPr>
            </a:pPr>
            <a:r>
              <a:t>Анализ предметной области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300">
                <a:solidFill>
                  <a:srgbClr val="33442D"/>
                </a:solidFill>
              </a:defRPr>
            </a:pPr>
            <a:r>
              <a:t>Такси-Мастер: комплексные роли и правила распределения.</a:t>
            </a:r>
          </a:p>
          <a:p>
            <a:pPr>
              <a:spcAft>
                <a:spcPts val="2200"/>
              </a:spcAft>
              <a:defRPr sz="2300">
                <a:solidFill>
                  <a:srgbClr val="33442D"/>
                </a:solidFill>
              </a:defRPr>
            </a:pPr>
            <a:r>
              <a:t>Яндекс Про: автоматический подбор с учётом требований и приоритета.</a:t>
            </a:r>
          </a:p>
          <a:p>
            <a:pPr>
              <a:spcAft>
                <a:spcPts val="2200"/>
              </a:spcAft>
              <a:defRPr sz="2300">
                <a:solidFill>
                  <a:srgbClr val="33442D"/>
                </a:solidFill>
              </a:defRPr>
            </a:pPr>
            <a:r>
              <a:t>Учебная модель: доступность + класс + расстояние; явные переходы.</a:t>
            </a:r>
          </a:p>
          <a:p>
            <a:pPr>
              <a:spcAft>
                <a:spcPts val="2200"/>
              </a:spcAft>
              <a:defRPr sz="2300">
                <a:solidFill>
                  <a:srgbClr val="33442D"/>
                </a:solidFill>
              </a:defRPr>
            </a:pPr>
            <a:r>
              <a:t>Граница: синтетический город, без оплаты и дорожного графа.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РТУ МИРЭА · Тактика · 2026                                                             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213321"/>
                </a:solidFill>
              </a:defRPr>
            </a:pPr>
            <a:r>
              <a:t>Технологический комплекс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300">
                <a:solidFill>
                  <a:srgbClr val="33442D"/>
                </a:solidFill>
              </a:defRPr>
            </a:pPr>
            <a:r>
              <a:t>Go: HTTP API и отдельный dispatcher. JavaScript: интерфейс.</a:t>
            </a:r>
          </a:p>
          <a:p>
            <a:pPr>
              <a:spcAft>
                <a:spcPts val="2200"/>
              </a:spcAft>
              <a:defRPr sz="2300">
                <a:solidFill>
                  <a:srgbClr val="33442D"/>
                </a:solidFill>
              </a:defRPr>
            </a:pPr>
            <a:r>
              <a:t>Node.js: воспроизводимые сценарии и движение автомобилей.</a:t>
            </a:r>
          </a:p>
          <a:p>
            <a:pPr>
              <a:spcAft>
                <a:spcPts val="2200"/>
              </a:spcAft>
              <a:defRPr sz="2300">
                <a:solidFill>
                  <a:srgbClr val="33442D"/>
                </a:solidFill>
              </a:defRPr>
            </a:pPr>
            <a:r>
              <a:t>PostgreSQL: источник истины. Redis: ускоряющее уведомление.</a:t>
            </a:r>
          </a:p>
          <a:p>
            <a:pPr>
              <a:spcAft>
                <a:spcPts val="2200"/>
              </a:spcAft>
              <a:defRPr sz="2300">
                <a:solidFill>
                  <a:srgbClr val="33442D"/>
                </a:solidFill>
              </a:defRPr>
            </a:pPr>
            <a:r>
              <a:t>Nginx · Docker Compose · K3s/k3d · Helm · GitHub Actions.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РТУ МИРЭА · Тактика · 2026                                                             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213321"/>
                </a:solidFill>
              </a:defRPr>
            </a:pPr>
            <a:r>
              <a:t>Структура и взаимодействие</a:t>
            </a:r>
          </a:p>
        </p:txBody>
      </p:sp>
      <p:pic>
        <p:nvPicPr>
          <p:cNvPr id="3" name="Picture 2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9452" y="1280160"/>
            <a:ext cx="9552790" cy="5074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51052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РТУ МИРЭА · Тактика · 2026                                                             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213321"/>
                </a:solidFill>
              </a:defRPr>
            </a:pPr>
            <a:r>
              <a:t>Распределение и жизненный цикл</a:t>
            </a:r>
          </a:p>
        </p:txBody>
      </p:sp>
      <p:pic>
        <p:nvPicPr>
          <p:cNvPr id="3" name="Picture 2" descr="life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9452" y="1280160"/>
            <a:ext cx="9552790" cy="5074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51052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РТУ МИРЭА · Тактика · 2026                                                             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213321"/>
                </a:solidFill>
              </a:defRPr>
            </a:pPr>
            <a:r>
              <a:t>Демонстрация работающей системы</a:t>
            </a:r>
          </a:p>
        </p:txBody>
      </p:sp>
      <p:pic>
        <p:nvPicPr>
          <p:cNvPr id="3" name="Picture 2" descr="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2624" y="1280160"/>
            <a:ext cx="5326446" cy="5074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51052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РТУ МИРЭА · Тактика · 2026                                                             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213321"/>
                </a:solidFill>
              </a:defRPr>
            </a:pPr>
            <a:r>
              <a:t>CI/CD: реальная проверка доставки</a:t>
            </a:r>
          </a:p>
        </p:txBody>
      </p:sp>
      <p:pic>
        <p:nvPicPr>
          <p:cNvPr id="3" name="Picture 2" descr="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9452" y="1280160"/>
            <a:ext cx="9552790" cy="5074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51052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РТУ МИРЭА · Тактика · 2026                                                             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213321"/>
                </a:solidFill>
              </a:defRPr>
            </a:pPr>
            <a:r>
              <a:t>Результаты и границы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300">
                <a:solidFill>
                  <a:srgbClr val="33442D"/>
                </a:solidFill>
              </a:defRPr>
            </a:pPr>
            <a:r>
              <a:t>Шесть компонентов Compose; кластер из трёх локальных узлов.</a:t>
            </a:r>
          </a:p>
          <a:p>
            <a:pPr>
              <a:spcAft>
                <a:spcPts val="2200"/>
              </a:spcAft>
              <a:defRPr sz="2300">
                <a:solidFill>
                  <a:srgbClr val="33442D"/>
                </a:solidFill>
              </a:defRPr>
            </a:pPr>
            <a:r>
              <a:t>Проверены два dispatcher, отказы, тайм-ауты и работа без Redis.</a:t>
            </a:r>
          </a:p>
          <a:p>
            <a:pPr>
              <a:spcAft>
                <a:spcPts val="2200"/>
              </a:spcAft>
              <a:defRPr sz="2300">
                <a:solidFill>
                  <a:srgbClr val="33442D"/>
                </a:solidFill>
              </a:defRPr>
            </a:pPr>
            <a:r>
              <a:t>Подтверждены восстановление API-подов и SQL-дампа.</a:t>
            </a:r>
          </a:p>
          <a:p>
            <a:pPr>
              <a:spcAft>
                <a:spcPts val="2200"/>
              </a:spcAft>
              <a:defRPr sz="2300">
                <a:solidFill>
                  <a:srgbClr val="33442D"/>
                </a:solidFill>
              </a:defRPr>
            </a:pPr>
            <a:r>
              <a:t>CI/CD выполнен; образы опубликованы для amd64 и arm64.</a:t>
            </a:r>
          </a:p>
          <a:p>
            <a:pPr>
              <a:spcAft>
                <a:spcPts val="2200"/>
              </a:spcAft>
              <a:defRPr sz="2300">
                <a:solidFill>
                  <a:srgbClr val="33442D"/>
                </a:solidFill>
              </a:defRPr>
            </a:pPr>
            <a:r>
              <a:t>Ограничения: одиночная БД и хост. Домен/HTTPS подготовлены к облаку.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РТУ МИРЭА · Тактика · 2026                                                               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